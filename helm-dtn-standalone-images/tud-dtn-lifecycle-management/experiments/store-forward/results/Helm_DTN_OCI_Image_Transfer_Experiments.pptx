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B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60120"/>
            <a:ext cx="1078992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Transferring Talos/Kubernetes OCI Images over Helm-DTN and µD3TN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46888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>
            <a:spAutoFit/>
          </a:bodyPr>
          <a:lstStyle/>
          <a:p>
            <a:pPr algn="ctr">
              <a:defRPr sz="2000" b="0">
                <a:solidFill>
                  <a:srgbClr val="BFDBFE"/>
                </a:solidFill>
                <a:latin typeface="Aptos"/>
              </a:defRPr>
            </a:pPr>
            <a:r>
              <a:t>Evaluation under LEO, Lunar and Mars contact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3703320"/>
            <a:ext cx="8321040" cy="1051560"/>
          </a:xfrm>
          <a:prstGeom prst="rect">
            <a:avLst/>
          </a:prstGeom>
          <a:solidFill>
            <a:srgbClr val="1E4060"/>
          </a:solidFill>
          <a:ln>
            <a:solidFill>
              <a:srgbClr val="0072B2"/>
            </a:solidFill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Aptos"/>
              </a:defRPr>
            </a:pPr>
            <a:r>
              <a:t>OCI packaging • AAP2/BPv7 • TCPCL • persistent store-and-forward • digest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57150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Aptos"/>
              </a:defRPr>
            </a:pPr>
            <a:r>
              <a:t>Anwesha — experiment progress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3B5B"/>
                </a:solidFill>
                <a:latin typeface="Aptos Display"/>
              </a:defRPr>
            </a:pPr>
            <a:r>
              <a:t>Experiment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Why image delivery is required before the Space-side cluster can use its dependencies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75569"/>
                </a:solidFill>
              </a:defRPr>
            </a:pPr>
            <a:r>
              <a:t>Helm-DTN / µD3TN OCI image-transfer evaluation  •  live snapshot 2026-09-27  •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• A disconnected Space-side environment cannot depend on continuous access to public registries.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• Talos/Kubernetes nodes require networking, DNS, control-plane, node-agent and sandbox images.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• Long-delay or intermittent links break assumptions made by ordinary always-connected registry workflows.</a:t>
            </a:r>
          </a:p>
          <a:p>
            <a:pPr>
              <a:spcAft>
                <a:spcPts val="10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• The research question: can the existing OCI/AAP2/µD3TN route preserve and deliver an image after contact returns?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257800"/>
            <a:ext cx="10058400" cy="658368"/>
          </a:xfrm>
          <a:prstGeom prst="rect">
            <a:avLst/>
          </a:prstGeom>
          <a:solidFill>
            <a:srgbClr val="EFF6FF"/>
          </a:solidFill>
          <a:ln>
            <a:solidFill>
              <a:srgbClr val="0072B2"/>
            </a:solidFill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700" b="1">
                <a:solidFill>
                  <a:srgbClr val="153B5B"/>
                </a:solidFill>
                <a:latin typeface="Aptos"/>
              </a:defRPr>
            </a:pPr>
            <a:r>
              <a:t>Goal: evaluate the existing transfer implementation — not build a Kubernetes cluster and not rewrite the sender/receiver.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3B5B"/>
                </a:solidFill>
                <a:latin typeface="Aptos Display"/>
              </a:defRPr>
            </a:pPr>
            <a:r>
              <a:t>Scope and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What was evaluated and what was deliberately excluded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75569"/>
                </a:solidFill>
              </a:defRPr>
            </a:pPr>
            <a:r>
              <a:t>Helm-DTN / µD3TN OCI image-transfer evaluation  •  live snapshot 2026-09-27  •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417320"/>
          <a:ext cx="10515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746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 scope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Out of scope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Identify required cluster images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Create/install the Kubernetes cluster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Transfer through the existing route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Rewrite OCI packaging or AAP2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10 repetitions per condition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Invent or repair missing measurements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CPU, RSS, payload, duration, throughput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Claim local results as spacecraft performance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Normal/contact-loss recovery + digests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Claim Mars propagation unless delay was applied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3B5B"/>
                </a:solidFill>
                <a:latin typeface="Aptos Display"/>
              </a:defRPr>
            </a:pPr>
            <a:r>
              <a:t>Why the existing Helm-DTN route?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Helm deploys/configures the environment; it does not copy the 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75569"/>
                </a:solidFill>
              </a:defRPr>
            </a:pPr>
            <a:r>
              <a:t>Helm-DTN / µD3TN OCI image-transfer evaluation  •  live snapshot 2026-09-27  •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• Reuses the project’s already implemented sender, receiver, OCI layout, AAP2 and digest-verification path.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• Provides a repeatable µD3TN deployment/routing environment instead of a one-off transport setup.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• Uses BPv7 bundles so application delivery is separated from one continuous end-to-end connection.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• Keeps registry compatibility: the receiver reconstructs OCI content and pushes it into the Space-side registry.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• Avoids adding another external image-transfer library; evaluation remains focused on the existing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3B5B"/>
                </a:solidFill>
                <a:latin typeface="Aptos Display"/>
              </a:defRPr>
            </a:pPr>
            <a:r>
              <a:t>End-to-end transfer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One OCI TAR payload is submitted as one AAP2 ADU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75569"/>
                </a:solidFill>
              </a:defRPr>
            </a:pPr>
            <a:r>
              <a:t>Helm-DTN / µD3TN OCI image-transfer evaluation  •  live snapshot 2026-09-27  •  5</a:t>
            </a:r>
          </a:p>
        </p:txBody>
      </p:sp>
      <p:pic>
        <p:nvPicPr>
          <p:cNvPr id="6" name="Picture 5" descr="method_explan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201400" cy="94238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3B5B"/>
                </a:solidFill>
                <a:latin typeface="Aptos Display"/>
              </a:defRPr>
            </a:pPr>
            <a:r>
              <a:t>Image sources and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Nine Kubernetes runtime images plus one Talos installer 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75569"/>
                </a:solidFill>
              </a:defRPr>
            </a:pPr>
            <a:r>
              <a:t>Helm-DTN / µD3TN OCI image-transfer evaluation  •  live snapshot 2026-09-27  •  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98448"/>
          <a:ext cx="1078992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017520"/>
                <a:gridCol w="4480560"/>
              </a:tblGrid>
              <a:tr h="461356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Image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Source registry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flannel:v0.27.4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ghcr.io/siderolabs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Pod CNI/networking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coredns:v1.13.2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registry.k8s.io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Cluster DNS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etcd:v3.6.7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registry.k8s.io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Cluster state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kube-apiserver:v1.35.0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registry.k8s.io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Kubernetes API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controller-manager:v1.35.0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registry.k8s.io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Controllers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scheduler:v1.35.0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registry.k8s.io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Pod scheduling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kube-proxy:v1.35.0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registry.k8s.io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Service networking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kubelet:v1.35.0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ghcr.io/siderolabs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Node agent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pause:3.10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registry.k8s.io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Pod sandbox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  <a:tr h="46136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installer:v1.12.4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ghcr.io/siderolabs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Talos install/upgrade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3B5B"/>
                </a:solidFill>
                <a:latin typeface="Aptos Display"/>
              </a:defRPr>
            </a:pPr>
            <a:r>
              <a:t>Experimental method and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The same measurement contract is used for every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75569"/>
                </a:solidFill>
              </a:defRPr>
            </a:pPr>
            <a:r>
              <a:t>Helm-DTN / µD3TN OCI image-transfer evaluation  •  live snapshot 2026-09-27  •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• Pull image → OCI layout → TAR + metadata → one AAP2 ADU.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• Temporarily interrupt only the Earth-to-Space µD3TN/TCPCL path.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• Keep sender/receiver alive; restore contact and observe delayed delivery.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• Push to the Space registry and compare source/destination SHA-256 digests.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• Record payload, timestamps, duration, CPU, RSS, throughput, interruption, reconnection, success and error.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  <a:latin typeface="Aptos"/>
              </a:defRPr>
            </a:pPr>
            <a:r>
              <a:t>• Store one detailed log per run and one row per attempt in the combined CSV.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3B5B"/>
                </a:solidFill>
                <a:latin typeface="Aptos Display"/>
              </a:defRPr>
            </a:pPr>
            <a:r>
              <a:t>Why LEO, Lunar and Mars?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Controlled profiles represent increasingly difficult communication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75569"/>
                </a:solidFill>
              </a:defRPr>
            </a:pPr>
            <a:r>
              <a:t>Helm-DTN / µD3TN OCI image-transfer evaluation  •  live snapshot 2026-09-27  • 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716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554480"/>
                <a:gridCol w="1554480"/>
                <a:gridCol w="1645920"/>
                <a:gridCol w="48463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Bandwidth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Applied RTT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Reference RTT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Interpretation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LEO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15 Mbit/s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50 ms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50 ms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Low-delay orbital profile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Lunar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20 Mbit/s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2.6 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2.6 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1.3 s one-way delay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Mars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5 Mbit/s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0 ms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1800 s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Contact-only; Mars delay not emulated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886200"/>
            <a:ext cx="5303520" cy="1325880"/>
          </a:xfrm>
          <a:prstGeom prst="rect">
            <a:avLst/>
          </a:prstGeom>
          <a:solidFill>
            <a:srgbClr val="EFF6FF"/>
          </a:solidFill>
          <a:ln>
            <a:solidFill>
              <a:srgbClr val="0072B2"/>
            </a:solidFill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600" b="1">
                <a:solidFill>
                  <a:srgbClr val="153B5B"/>
                </a:solidFill>
                <a:latin typeface="Aptos"/>
              </a:defRPr>
            </a:pPr>
            <a:r>
              <a:t>Bandwidth ≠ RTT</a:t>
            </a:r>
            <a:br/>
            <a:r>
              <a:t>Capacity depends on link budget, power, antennas and coding. RTT mainly reflects propagation distance.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3886200"/>
            <a:ext cx="5257800" cy="1325880"/>
          </a:xfrm>
          <a:prstGeom prst="rect">
            <a:avLst/>
          </a:prstGeom>
          <a:solidFill>
            <a:srgbClr val="FDF2F8"/>
          </a:solidFill>
          <a:ln>
            <a:solidFill>
              <a:srgbClr val="CC79A7"/>
            </a:solidFill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600" b="1">
                <a:solidFill>
                  <a:srgbClr val="831843"/>
                </a:solidFill>
                <a:latin typeface="Aptos"/>
              </a:defRPr>
            </a:pPr>
            <a:r>
              <a:t>Mars limitation</a:t>
            </a:r>
            <a:br/>
            <a:r>
              <a:t>5 Mbit/s + contact disruption were applied. A literal 900 s one-way delay was not.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3B5B"/>
                </a:solidFill>
                <a:latin typeface="Aptos Display"/>
              </a:defRPr>
            </a:pPr>
            <a:r>
              <a:t>Reference RTT versus RTT actually applied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A graph must never substitute a reference value for an applied measurement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75569"/>
                </a:solidFill>
              </a:defRPr>
            </a:pPr>
            <a:r>
              <a:t>Helm-DTN / µD3TN OCI image-transfer evaluation  •  live snapshot 2026-09-27  •  9</a:t>
            </a:r>
          </a:p>
        </p:txBody>
      </p:sp>
      <p:pic>
        <p:nvPicPr>
          <p:cNvPr id="6" name="Picture 5" descr="rtt_reference_vs_appl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234440"/>
            <a:ext cx="9738360" cy="53253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3B5B"/>
                </a:solidFill>
                <a:latin typeface="Aptos Display"/>
              </a:defRPr>
            </a:pPr>
            <a:r>
              <a:t>Contact-window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Same contact logic for LEO, Lunar and Mars; outage = 10 s, 5 min or 1 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75569"/>
                </a:solidFill>
              </a:defRPr>
            </a:pPr>
            <a:r>
              <a:t>Helm-DTN / µD3TN OCI image-transfer evaluation  •  live snapshot 2026-09-27  •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2057400" cy="59436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CONTACT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417320"/>
            <a:ext cx="6400800" cy="594360"/>
          </a:xfrm>
          <a:prstGeom prst="rect">
            <a:avLst/>
          </a:prstGeom>
          <a:solidFill>
            <a:srgbClr val="FEE2E2"/>
          </a:solidFill>
          <a:ln>
            <a:solidFill>
              <a:srgbClr val="D55E00"/>
            </a:solidFill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800" b="1">
                <a:solidFill>
                  <a:srgbClr val="153B5B"/>
                </a:solidFill>
                <a:latin typeface="Aptos"/>
              </a:defRPr>
            </a:pPr>
            <a:r>
              <a:t>CONTACT OFF — bundle retained at Earth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417320"/>
            <a:ext cx="2057400" cy="59436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RESTORED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15087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>
            <a:spAutoFit/>
          </a:bodyPr>
          <a:lstStyle/>
          <a:p>
            <a:pPr algn="r">
              <a:defRPr sz="1300" b="1">
                <a:solidFill>
                  <a:srgbClr val="153B5B"/>
                </a:solidFill>
                <a:latin typeface="Aptos"/>
              </a:defRPr>
            </a:pPr>
            <a:r>
              <a:t>LEO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514600"/>
            <a:ext cx="1554480" cy="43891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ADU submitted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514600"/>
            <a:ext cx="4297680" cy="438912"/>
          </a:xfrm>
          <a:prstGeom prst="rect">
            <a:avLst/>
          </a:prstGeom>
          <a:solidFill>
            <a:srgbClr val="FFEDD5"/>
          </a:solidFill>
          <a:ln>
            <a:solidFill>
              <a:srgbClr val="D55E00"/>
            </a:solidFill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200" b="1">
                <a:solidFill>
                  <a:srgbClr val="153B5B"/>
                </a:solidFill>
                <a:latin typeface="Aptos"/>
              </a:defRPr>
            </a:pPr>
            <a:r>
              <a:t>10 s / 300 s / 3600 s interruption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2286000" cy="43891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TCPCL +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15087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>
            <a:spAutoFit/>
          </a:bodyPr>
          <a:lstStyle/>
          <a:p>
            <a:pPr algn="r">
              <a:defRPr sz="1300" b="1">
                <a:solidFill>
                  <a:srgbClr val="153B5B"/>
                </a:solidFill>
                <a:latin typeface="Aptos"/>
              </a:defRPr>
            </a:pPr>
            <a:r>
              <a:t>LUNAR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337560"/>
            <a:ext cx="1554480" cy="438912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ADU submitted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337560"/>
            <a:ext cx="4297680" cy="438912"/>
          </a:xfrm>
          <a:prstGeom prst="rect">
            <a:avLst/>
          </a:prstGeom>
          <a:solidFill>
            <a:srgbClr val="FFEDD5"/>
          </a:solidFill>
          <a:ln>
            <a:solidFill>
              <a:srgbClr val="D55E00"/>
            </a:solidFill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200" b="1">
                <a:solidFill>
                  <a:srgbClr val="153B5B"/>
                </a:solidFill>
                <a:latin typeface="Aptos"/>
              </a:defRPr>
            </a:pPr>
            <a:r>
              <a:t>10 s / 300 s / 3600 s interruption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37560"/>
            <a:ext cx="2286000" cy="438912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TCPCL +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15087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>
            <a:spAutoFit/>
          </a:bodyPr>
          <a:lstStyle/>
          <a:p>
            <a:pPr algn="r">
              <a:defRPr sz="1300" b="1">
                <a:solidFill>
                  <a:srgbClr val="153B5B"/>
                </a:solidFill>
                <a:latin typeface="Aptos"/>
              </a:defRPr>
            </a:pPr>
            <a:r>
              <a:t>MARS contact-only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60520"/>
            <a:ext cx="1554480" cy="438912"/>
          </a:xfrm>
          <a:prstGeom prst="rect">
            <a:avLst/>
          </a:prstGeom>
          <a:solidFill>
            <a:srgbClr val="CC79A7"/>
          </a:solidFill>
          <a:ln>
            <a:noFill/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ADU submitted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160520"/>
            <a:ext cx="4297680" cy="438912"/>
          </a:xfrm>
          <a:prstGeom prst="rect">
            <a:avLst/>
          </a:prstGeom>
          <a:solidFill>
            <a:srgbClr val="FFEDD5"/>
          </a:solidFill>
          <a:ln>
            <a:solidFill>
              <a:srgbClr val="D55E00"/>
            </a:solidFill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200" b="1">
                <a:solidFill>
                  <a:srgbClr val="153B5B"/>
                </a:solidFill>
                <a:latin typeface="Aptos"/>
              </a:defRPr>
            </a:pPr>
            <a:r>
              <a:t>10 s / 300 s / 3600 s interruption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160520"/>
            <a:ext cx="2286000" cy="438912"/>
          </a:xfrm>
          <a:prstGeom prst="rect">
            <a:avLst/>
          </a:prstGeom>
          <a:solidFill>
            <a:srgbClr val="CC79A7"/>
          </a:solidFill>
          <a:ln>
            <a:noFill/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TCPCL +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166360"/>
            <a:ext cx="10149840" cy="6858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500" b="1">
                <a:solidFill>
                  <a:srgbClr val="153B5B"/>
                </a:solidFill>
                <a:latin typeface="Aptos"/>
              </a:defRPr>
            </a:pPr>
            <a:r>
              <a:t>This is a controlled experimental contact window—not a real satellite pass, lunar visibility schedule or DSN Mars schedule.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3B5B"/>
                </a:solidFill>
                <a:latin typeface="Aptos Display"/>
              </a:defRPr>
            </a:pPr>
            <a:r>
              <a:t>Current result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Live matrix snapshot; unfinished images must not be presented as completed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75569"/>
                </a:solidFill>
              </a:defRPr>
            </a:pPr>
            <a:r>
              <a:t>Helm-DTN / µD3TN OCI image-transfer evaluation  •  live snapshot 2026-09-27  • 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98448"/>
          <a:ext cx="106984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103120"/>
                <a:gridCol w="2743200"/>
                <a:gridCol w="2834640"/>
              </a:tblGrid>
              <a:tr h="461356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Image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Recorded attempts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Digest-verified successes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flannel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93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89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complete/mostly complete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coredns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90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90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complete/mostly complete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etcd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90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89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complete/mostly complete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kube-apiserver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56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56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in progress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kube-controller-manager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not reached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kube-scheduler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not reached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kube-proxy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not reached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kubelet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not reached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pause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not reached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  <a:tr h="46136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talos-installer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not reached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3B5B"/>
                </a:solidFill>
                <a:latin typeface="Aptos Display"/>
              </a:defRPr>
            </a:pPr>
            <a:r>
              <a:t>What the measured trends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Duration rises and effective throughput falls as the outage becomes longer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75569"/>
                </a:solidFill>
              </a:defRPr>
            </a:pPr>
            <a:r>
              <a:t>Helm-DTN / µD3TN OCI image-transfer evaluation  •  live snapshot 2026-09-27  •  12</a:t>
            </a:r>
          </a:p>
        </p:txBody>
      </p:sp>
      <p:pic>
        <p:nvPicPr>
          <p:cNvPr id="6" name="Picture 5" descr="scenario_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11567160" cy="38692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3B5B"/>
                </a:solidFill>
                <a:latin typeface="Aptos Display"/>
              </a:defRPr>
            </a:pPr>
            <a:r>
              <a:t>Why do the curves rise and fall?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Interruption waiting time dominates the complete wall-clock measurement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75569"/>
                </a:solidFill>
              </a:defRPr>
            </a:pPr>
            <a:r>
              <a:t>Helm-DTN / µD3TN OCI image-transfer evaluation  •  live snapshot 2026-09-27  •  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97279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749039"/>
                <a:gridCol w="4480560"/>
              </a:tblGrid>
              <a:tr h="8412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Observation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Cause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Correct interpretation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Duration rises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Bundle waits for contact restoration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Expected DTN delay, plus recovery overhead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Throughput falls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Payload ÷ total wall-clock duration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Not necessarily lower active-link capacity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High error bars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WSL suspension and variable reconnection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Operational variability, not image corruption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Digests match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Receiver verifies/pushes original OCI content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Integrity succeeded after delivery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solidFill>
            <a:srgbClr val="F0FDFA"/>
          </a:solidFill>
          <a:ln>
            <a:solidFill>
              <a:srgbClr val="009E73"/>
            </a:solidFill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600" b="1">
                <a:solidFill>
                  <a:srgbClr val="153B5B"/>
                </a:solidFill>
                <a:latin typeface="Aptos"/>
              </a:defRPr>
            </a:pPr>
            <a:r>
              <a:t>Longer total time can coexist with a successful digest: DTN optimizes eventual delivery, not low latency.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3B5B"/>
                </a:solidFill>
                <a:latin typeface="Aptos Display"/>
              </a:defRPr>
            </a:pPr>
            <a:r>
              <a:t>TCPCL: when it is good—and when it is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TCPCL is the transport convergence layer, not the persistent DTN store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75569"/>
                </a:solidFill>
              </a:defRPr>
            </a:pPr>
            <a:r>
              <a:t>Helm-DTN / µD3TN OCI image-transfer evaluation  •  live snapshot 2026-09-27  •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10789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Works well when…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Becomes difficult when…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An IP path currently exists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The contact disappears for a long time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RTT is within TCP/handshake timeout limits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RTT is extreme, e.g. literal Mars delay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The session remains stable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Host/network suspension breaks timers and connections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The link becomes active before recall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A stored bundle is recalled before handshake completion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solidFill>
            <a:srgbClr val="FFF7ED"/>
          </a:solidFill>
          <a:ln>
            <a:solidFill>
              <a:srgbClr val="E69F00"/>
            </a:solidFill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800" b="1">
                <a:solidFill>
                  <a:srgbClr val="153B5B"/>
                </a:solidFill>
                <a:latin typeface="Aptos"/>
              </a:defRPr>
            </a:pPr>
            <a:r>
              <a:t>Observed fix: configure contact → wait 15 s for TCPCL handshake → recall the SQLite bundle.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3B5B"/>
                </a:solidFill>
                <a:latin typeface="Aptos Display"/>
              </a:defRPr>
            </a:pPr>
            <a:r>
              <a:t>What persistent DTN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The original ADU survives contact loss without restarting the sender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75569"/>
                </a:solidFill>
              </a:defRPr>
            </a:pPr>
            <a:r>
              <a:t>Helm-DTN / µD3TN OCI image-transfer evaluation  •  live snapshot 2026-09-27  •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640080" cy="64008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1508760"/>
            <a:ext cx="2743200" cy="640080"/>
          </a:xfrm>
          <a:prstGeom prst="rect">
            <a:avLst/>
          </a:prstGeom>
          <a:solidFill>
            <a:srgbClr val="F1F5F9"/>
          </a:solidFill>
          <a:ln>
            <a:solidFill>
              <a:srgbClr val="0072B2"/>
            </a:solidFill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600" b="1">
                <a:solidFill>
                  <a:srgbClr val="153B5B"/>
                </a:solidFill>
                <a:latin typeface="Aptos"/>
              </a:defRPr>
            </a:pPr>
            <a:r>
              <a:t>Sender submits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508760"/>
            <a:ext cx="640080" cy="64008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1508760"/>
            <a:ext cx="2743200" cy="640080"/>
          </a:xfrm>
          <a:prstGeom prst="rect">
            <a:avLst/>
          </a:prstGeom>
          <a:solidFill>
            <a:srgbClr val="F1F5F9"/>
          </a:solidFill>
          <a:ln>
            <a:solidFill>
              <a:srgbClr val="E69F00"/>
            </a:solidFill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600" b="1">
                <a:solidFill>
                  <a:srgbClr val="153B5B"/>
                </a:solidFill>
                <a:latin typeface="Aptos"/>
              </a:defRPr>
            </a:pPr>
            <a:r>
              <a:t>Earth stores bundle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508760"/>
            <a:ext cx="640080" cy="64008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5128" y="1508760"/>
            <a:ext cx="2743200" cy="640080"/>
          </a:xfrm>
          <a:prstGeom prst="rect">
            <a:avLst/>
          </a:prstGeom>
          <a:solidFill>
            <a:srgbClr val="F1F5F9"/>
          </a:solidFill>
          <a:ln>
            <a:solidFill>
              <a:srgbClr val="D55E00"/>
            </a:solidFill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600" b="1">
                <a:solidFill>
                  <a:srgbClr val="153B5B"/>
                </a:solidFill>
                <a:latin typeface="Aptos"/>
              </a:defRPr>
            </a:pPr>
            <a:r>
              <a:t>Contact unavailable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66160"/>
            <a:ext cx="640080" cy="640080"/>
          </a:xfrm>
          <a:prstGeom prst="rect">
            <a:avLst/>
          </a:prstGeom>
          <a:solidFill>
            <a:srgbClr val="7A5195"/>
          </a:solidFill>
          <a:ln>
            <a:noFill/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3566160"/>
            <a:ext cx="2743200" cy="640080"/>
          </a:xfrm>
          <a:prstGeom prst="rect">
            <a:avLst/>
          </a:prstGeom>
          <a:solidFill>
            <a:srgbClr val="F1F5F9"/>
          </a:solidFill>
          <a:ln>
            <a:solidFill>
              <a:srgbClr val="7A5195"/>
            </a:solidFill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600" b="1">
                <a:solidFill>
                  <a:srgbClr val="153B5B"/>
                </a:solidFill>
                <a:latin typeface="Aptos"/>
              </a:defRPr>
            </a:pPr>
            <a:r>
              <a:t>TCPCL reconnects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566160"/>
            <a:ext cx="640080" cy="64008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3566160"/>
            <a:ext cx="2743200" cy="640080"/>
          </a:xfrm>
          <a:prstGeom prst="rect">
            <a:avLst/>
          </a:prstGeom>
          <a:solidFill>
            <a:srgbClr val="F1F5F9"/>
          </a:solidFill>
          <a:ln>
            <a:solidFill>
              <a:srgbClr val="009E73"/>
            </a:solidFill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600" b="1">
                <a:solidFill>
                  <a:srgbClr val="153B5B"/>
                </a:solidFill>
                <a:latin typeface="Aptos"/>
              </a:defRPr>
            </a:pPr>
            <a:r>
              <a:t>Stored bundle recalled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566160"/>
            <a:ext cx="640080" cy="64008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5128" y="3566160"/>
            <a:ext cx="2743200" cy="640080"/>
          </a:xfrm>
          <a:prstGeom prst="rect">
            <a:avLst/>
          </a:prstGeom>
          <a:solidFill>
            <a:srgbClr val="F1F5F9"/>
          </a:solidFill>
          <a:ln>
            <a:solidFill>
              <a:srgbClr val="0072B2"/>
            </a:solidFill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600" b="1">
                <a:solidFill>
                  <a:srgbClr val="153B5B"/>
                </a:solidFill>
                <a:latin typeface="Aptos"/>
              </a:defRPr>
            </a:pPr>
            <a:r>
              <a:t>Registry + digest 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0332720" cy="594360"/>
          </a:xfrm>
          <a:prstGeom prst="rect">
            <a:avLst/>
          </a:prstGeom>
          <a:solidFill>
            <a:srgbClr val="F0FDFA"/>
          </a:solidFill>
          <a:ln>
            <a:solidFill>
              <a:srgbClr val="009E73"/>
            </a:solidFill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600" b="1">
                <a:solidFill>
                  <a:srgbClr val="153B5B"/>
                </a:solidFill>
                <a:latin typeface="Aptos"/>
              </a:defRPr>
            </a:pPr>
            <a:r>
              <a:t>Learning: DTN store-and-forward provides eventual delivery across disruption; TCPCL alone does not provide custody/persistence.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3B5B"/>
                </a:solidFill>
                <a:latin typeface="Aptos Display"/>
              </a:defRPr>
            </a:pPr>
            <a:r>
              <a:t>Limitations, requirements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What can be claimed now—and what requires a separate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75569"/>
                </a:solidFill>
              </a:defRPr>
            </a:pPr>
            <a:r>
              <a:t>Helm-DTN / µD3TN OCI image-transfer evaluation  •  live snapshot 2026-09-27  • 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25880"/>
          <a:ext cx="109728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943600"/>
              </a:tblGrid>
              <a:tr h="6335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Current limitation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Requirement / next step</a:t>
                      </a:r>
                    </a:p>
                  </a:txBody>
                  <a:tcPr marL="45720" marR="45720">
                    <a:solidFill>
                      <a:srgbClr val="153B5B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WSL pauses sleep timers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Use an always-on Linux host or absolute wall-clock scheduler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Mars applied RTT = 0 ms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Tune timeouts and run a separate 900 s one-way-delay experiment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Local CPU/RSS values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Repeat on representative edge/space hardware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One large ADU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Evaluate fragmentation/chunking and partial resume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Asymmetric links not modeled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Apply distinct forward/return bandwidth profiles</a:t>
                      </a:r>
                    </a:p>
                  </a:txBody>
                  <a:tcPr marL="45720" marR="45720">
                    <a:solidFill>
                      <a:srgbClr val="F1F5F9"/>
                    </a:solidFill>
                  </a:tcPr>
                </a:tc>
              </a:tr>
              <a:tr h="63355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Matrix still running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Finish ten images, regenerate summaries, freeze final dataset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852160"/>
            <a:ext cx="10332720" cy="438912"/>
          </a:xfrm>
          <a:prstGeom prst="rect">
            <a:avLst/>
          </a:prstGeom>
          <a:solidFill>
            <a:srgbClr val="FDF2F8"/>
          </a:solidFill>
          <a:ln>
            <a:solidFill>
              <a:srgbClr val="CC79A7"/>
            </a:solidFill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500" b="1">
                <a:solidFill>
                  <a:srgbClr val="831843"/>
                </a:solidFill>
                <a:latin typeface="Aptos"/>
              </a:defRPr>
            </a:pPr>
            <a:r>
              <a:t>Do not claim physical Mars propagation performance from the current contact-only Mars results.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3B5B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What the experiment demonstrates so far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75569"/>
                </a:solidFill>
              </a:defRPr>
            </a:pPr>
            <a:r>
              <a:t>Helm-DTN / µD3TN OCI image-transfer evaluation  •  live snapshot 2026-09-27  •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475569"/>
                </a:solidFill>
                <a:latin typeface="Aptos"/>
              </a:defRPr>
            </a:pPr>
            <a:r>
              <a:t>• The existing Helm-DTN/µD3TN OCI route can deliver cluster images and preserve digest integrity.</a:t>
            </a:r>
          </a:p>
          <a:p>
            <a:pPr>
              <a:spcAft>
                <a:spcPts val="1000"/>
              </a:spcAft>
              <a:defRPr sz="1900">
                <a:solidFill>
                  <a:srgbClr val="475569"/>
                </a:solidFill>
                <a:latin typeface="Aptos"/>
              </a:defRPr>
            </a:pPr>
            <a:r>
              <a:t>• Short and medium outages usually recover through TCPCL reconnection.</a:t>
            </a:r>
          </a:p>
          <a:p>
            <a:pPr>
              <a:spcAft>
                <a:spcPts val="1000"/>
              </a:spcAft>
              <a:defRPr sz="1900">
                <a:solidFill>
                  <a:srgbClr val="475569"/>
                </a:solidFill>
                <a:latin typeface="Aptos"/>
              </a:defRPr>
            </a:pPr>
            <a:r>
              <a:t>• Long outages require persistent Earth-side storage and handshake-aware bundle recall.</a:t>
            </a:r>
          </a:p>
          <a:p>
            <a:pPr>
              <a:spcAft>
                <a:spcPts val="1000"/>
              </a:spcAft>
              <a:defRPr sz="1900">
                <a:solidFill>
                  <a:srgbClr val="475569"/>
                </a:solidFill>
                <a:latin typeface="Aptos"/>
              </a:defRPr>
            </a:pPr>
            <a:r>
              <a:t>• LEO and Lunar results include applied propagation RTT; Mars results are contact/bandwidth recovery only.</a:t>
            </a:r>
          </a:p>
          <a:p>
            <a:pPr>
              <a:spcAft>
                <a:spcPts val="1000"/>
              </a:spcAft>
              <a:defRPr sz="1900">
                <a:solidFill>
                  <a:srgbClr val="475569"/>
                </a:solidFill>
                <a:latin typeface="Aptos"/>
              </a:defRPr>
            </a:pPr>
            <a:r>
              <a:t>• The most important operational issue is WSL suspension extending configured one-hour interruptions.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731520"/>
          </a:xfrm>
          <a:prstGeom prst="rect">
            <a:avLst/>
          </a:prstGeom>
          <a:solidFill>
            <a:srgbClr val="EFF6FF"/>
          </a:solidFill>
          <a:ln>
            <a:solidFill>
              <a:srgbClr val="0072B2"/>
            </a:solidFill>
          </a:ln>
        </p:spPr>
        <p:txBody>
          <a:bodyPr wrap="square" anchor="ctr" lIns="109728" rIns="109728">
            <a:spAutoFit/>
          </a:bodyPr>
          <a:lstStyle/>
          <a:p>
            <a:pPr algn="ctr">
              <a:defRPr sz="1800" b="1">
                <a:solidFill>
                  <a:srgbClr val="153B5B"/>
                </a:solidFill>
                <a:latin typeface="Aptos"/>
              </a:defRPr>
            </a:pPr>
            <a:r>
              <a:t>Core message: the system prioritizes eventual, integrity-verified delivery across disrupted contact—not minimum latency.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3B5B"/>
                </a:solidFill>
                <a:latin typeface="Aptos Display"/>
              </a:defRPr>
            </a:pPr>
            <a:r>
              <a:t>Evidence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ptos"/>
              </a:defRPr>
            </a:pPr>
            <a:r>
              <a:t>Repository artifacts used to build this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475569"/>
                </a:solidFill>
              </a:defRPr>
            </a:pPr>
            <a:r>
              <a:t>Helm-DTN / µD3TN OCI image-transfer evaluation  •  live snapshot 2026-09-27  •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• Raw results: experiments/store-forward/results/persistent_store_forward_results.csv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• Detailed logs: experiments/store-forward/logs/{leo,lunar,mars}/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• Network profiles: experiments/config/network_scenarios.yaml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• Experiment scripts: run_full_persistent_matrix.sh and run_persistent_store_forward.sh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• Architecture/method report: experiments/store-forward/PROFESSOR_EXPLANATION_CHART.md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• NASA NESC Mars communications report: Mars-to-Earth rates approximately 1–5 Mbit/s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• JPL Mars optical-link study: modeled downlink rates approximately 5–40 Mbit/s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• Professor-provided IMC paper: interruption methodology/reference context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